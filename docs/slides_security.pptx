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47472" cy="68580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508760"/>
            <a:ext cx="10789920" cy="7315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4200" b="1">
                <a:solidFill>
                  <a:srgbClr val="0F172A"/>
                </a:solidFill>
                <a:latin typeface="Calibri"/>
              </a:rPr>
              <a:t>Hotpot /security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331720"/>
            <a:ext cx="10789920" cy="5029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2200" b="0">
                <a:solidFill>
                  <a:srgbClr val="B91C1C"/>
                </a:solidFill>
                <a:latin typeface="Calibri"/>
              </a:rPr>
              <a:t>Evidence-first scoring, ranking, and anti-marketing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246120"/>
            <a:ext cx="10241280" cy="9144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800" b="0">
                <a:solidFill>
                  <a:srgbClr val="1F2937"/>
                </a:solidFill>
                <a:latin typeface="Calibri"/>
              </a:rPr>
              <a:t>Goal: surface real CVEs, real exploitation, concrete cases, and actionable reports. The general feed keeps Item.score; /security owns final_security_score.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166360"/>
            <a:ext cx="1024128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Calibri"/>
              </a:rPr>
              <a:t>Current v1: deterministic local article/source signals, persisted in security_item_scores.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19088"/>
            <a:ext cx="6400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1/8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5943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3100" b="1">
                <a:solidFill>
                  <a:srgbClr val="0F172A"/>
                </a:solidFill>
                <a:latin typeface="Calibri"/>
              </a:rPr>
              <a:t>1. Evidence collection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87552"/>
            <a:ext cx="9144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1106424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Convert each item into observable facts before any ranking.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2743200" cy="406908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783080"/>
            <a:ext cx="242316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Identity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2240280"/>
            <a:ext cx="2423160" cy="31546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- CVE IDs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- GHSA IDs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- CWE IDs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- affected products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- affected versions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600200"/>
            <a:ext cx="2743200" cy="406908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7872" y="1783080"/>
            <a:ext cx="242316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Exploitation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47872" y="2240280"/>
            <a:ext cx="2423160" cy="31546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- CISA KEV signal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- confirmed in the wild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- vendor confirmed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- credible incident report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- public PoC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600200"/>
            <a:ext cx="2743200" cy="406908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1" y="1783080"/>
            <a:ext cx="242316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Actionability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1" y="2240280"/>
            <a:ext cx="2423160" cy="31546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- patch available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- patched version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- mitigation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- detection logic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- IoCs / YARA / Sigma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1600200"/>
            <a:ext cx="2743200" cy="406908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08592" y="1783080"/>
            <a:ext cx="242316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Quality / noise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08592" y="2240280"/>
            <a:ext cx="2423160" cy="31546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- source links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- technical detail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- generic phrases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- demo / webinar CTA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- product pitch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897880"/>
            <a:ext cx="1097280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Important rule: the LLM may extract facts later, but ranking is deterministic code.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19088"/>
            <a:ext cx="6400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5943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3100" b="1">
                <a:solidFill>
                  <a:srgbClr val="0F172A"/>
                </a:solidFill>
                <a:latin typeface="Calibri"/>
              </a:rPr>
              <a:t>2. Filter first, rank second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87552"/>
            <a:ext cx="9144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1106424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Bad security-looking content should not enter the candidate set.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5943600" cy="42519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ctr"/>
            <a:r>
              <a:rPr sz="1400">
                <a:solidFill>
                  <a:srgbClr val="E2E8F0"/>
                </a:solidFill>
                <a:latin typeface="Consolas"/>
              </a:rPr>
              <a:t>raw crawled item</a:t>
            </a:r>
          </a:p>
          <a:p>
            <a:r>
              <a:rPr sz="1400">
                <a:solidFill>
                  <a:srgbClr val="E2E8F0"/>
                </a:solidFill>
                <a:latin typeface="Consolas"/>
              </a:rPr>
              <a:t>  -&gt; feature extraction</a:t>
            </a:r>
          </a:p>
          <a:p>
            <a:r>
              <a:rPr sz="1400">
                <a:solidFill>
                  <a:srgbClr val="E2E8F0"/>
                </a:solidFill>
                <a:latin typeface="Consolas"/>
              </a:rPr>
              <a:t>  -&gt; security relevance filter     threshold &gt;= 0.40</a:t>
            </a:r>
          </a:p>
          <a:p>
            <a:r>
              <a:rPr sz="1400">
                <a:solidFill>
                  <a:srgbClr val="E2E8F0"/>
                </a:solidFill>
                <a:latin typeface="Consolas"/>
              </a:rPr>
              <a:t>  -&gt; soft-article rejection        marketing + weak evidence</a:t>
            </a:r>
          </a:p>
          <a:p>
            <a:r>
              <a:rPr sz="1400">
                <a:solidFill>
                  <a:srgbClr val="E2E8F0"/>
                </a:solidFill>
                <a:latin typeface="Consolas"/>
              </a:rPr>
              <a:t>  -&gt; evidence score                concrete, source-backed facts</a:t>
            </a:r>
          </a:p>
          <a:p>
            <a:r>
              <a:rPr sz="1400">
                <a:solidFill>
                  <a:srgbClr val="E2E8F0"/>
                </a:solidFill>
                <a:latin typeface="Consolas"/>
              </a:rPr>
              <a:t>  -&gt; exploitation score            KEV / active exploitation / PoC ladder</a:t>
            </a:r>
          </a:p>
          <a:p>
            <a:r>
              <a:rPr sz="1400">
                <a:solidFill>
                  <a:srgbClr val="E2E8F0"/>
                </a:solidFill>
                <a:latin typeface="Consolas"/>
              </a:rPr>
              <a:t>  -&gt; quality, impact, actionability</a:t>
            </a:r>
          </a:p>
          <a:p>
            <a:r>
              <a:rPr sz="1400">
                <a:solidFill>
                  <a:srgbClr val="E2E8F0"/>
                </a:solidFill>
                <a:latin typeface="Consolas"/>
              </a:rPr>
              <a:t>  -&gt; grouping by CVE / GHSA / incident</a:t>
            </a:r>
          </a:p>
          <a:p>
            <a:r>
              <a:rPr sz="1400">
                <a:solidFill>
                  <a:srgbClr val="E2E8F0"/>
                </a:solidFill>
                <a:latin typeface="Consolas"/>
              </a:rPr>
              <a:t>  -&gt; final_security_score + security_hot_score</a:t>
            </a:r>
          </a:p>
          <a:p>
            <a:r>
              <a:rPr sz="1400">
                <a:solidFill>
                  <a:srgbClr val="E2E8F0"/>
                </a:solidFill>
                <a:latin typeface="Consolas"/>
              </a:rPr>
              <a:t>  -&gt; /api/security/hot and /api/security/items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03720" y="1600200"/>
            <a:ext cx="4526280" cy="4251960"/>
          </a:xfrm>
          <a:prstGeom prst="roundRect">
            <a:avLst/>
          </a:prstGeom>
          <a:solidFill>
            <a:srgbClr val="FEF2F2"/>
          </a:solidFill>
          <a:ln w="1016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78040" y="1810512"/>
            <a:ext cx="3977639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700" b="1">
                <a:solidFill>
                  <a:srgbClr val="B91C1C"/>
                </a:solidFill>
                <a:latin typeface="Calibri"/>
              </a:rPr>
              <a:t>Reject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78040" y="2267712"/>
            <a:ext cx="3886200" cy="19202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- Top 10 cybersecurity trends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- Why every CISO needs our platform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- Download our latest report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- Best practices with no CVE, patch, IoC, victim, or actor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4434840"/>
            <a:ext cx="3886200" cy="7772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Promotional language alone is not enough to reject. Promotional language plus weak evidence is rejected.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19088"/>
            <a:ext cx="6400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5943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3100" b="1">
                <a:solidFill>
                  <a:srgbClr val="0F172A"/>
                </a:solidFill>
                <a:latin typeface="Calibri"/>
              </a:rPr>
              <a:t>3. Final security score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87552"/>
            <a:ext cx="9144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1106424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Separate from the general feed Item.score.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72768"/>
            <a:ext cx="5715000" cy="38404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ctr"/>
            <a:r>
              <a:rPr sz="1400">
                <a:solidFill>
                  <a:srgbClr val="E2E8F0"/>
                </a:solidFill>
                <a:latin typeface="Consolas"/>
              </a:rPr>
              <a:t>final_security_score =</a:t>
            </a:r>
          </a:p>
          <a:p>
            <a:r>
              <a:rPr sz="1400">
                <a:solidFill>
                  <a:srgbClr val="E2E8F0"/>
                </a:solidFill>
                <a:latin typeface="Consolas"/>
              </a:rPr>
              <a:t>    0.30 * evidence_score</a:t>
            </a:r>
          </a:p>
          <a:p>
            <a:r>
              <a:rPr sz="1400">
                <a:solidFill>
                  <a:srgbClr val="E2E8F0"/>
                </a:solidFill>
                <a:latin typeface="Consolas"/>
              </a:rPr>
              <a:t>  + 0.24 * exploitation_score</a:t>
            </a:r>
          </a:p>
          <a:p>
            <a:r>
              <a:rPr sz="1400">
                <a:solidFill>
                  <a:srgbClr val="E2E8F0"/>
                </a:solidFill>
                <a:latin typeface="Consolas"/>
              </a:rPr>
              <a:t>  + 0.14 * content_quality_score</a:t>
            </a:r>
          </a:p>
          <a:p>
            <a:r>
              <a:rPr sz="1400">
                <a:solidFill>
                  <a:srgbClr val="E2E8F0"/>
                </a:solidFill>
                <a:latin typeface="Consolas"/>
              </a:rPr>
              <a:t>  + 0.10 * impact_score</a:t>
            </a:r>
          </a:p>
          <a:p>
            <a:r>
              <a:rPr sz="1400">
                <a:solidFill>
                  <a:srgbClr val="E2E8F0"/>
                </a:solidFill>
                <a:latin typeface="Consolas"/>
              </a:rPr>
              <a:t>  + 0.08 * actionability_score</a:t>
            </a:r>
          </a:p>
          <a:p>
            <a:r>
              <a:rPr sz="1400">
                <a:solidFill>
                  <a:srgbClr val="E2E8F0"/>
                </a:solidFill>
                <a:latin typeface="Consolas"/>
              </a:rPr>
              <a:t>  + 0.06 * source_authority_score</a:t>
            </a:r>
          </a:p>
          <a:p>
            <a:r>
              <a:rPr sz="1400">
                <a:solidFill>
                  <a:srgbClr val="E2E8F0"/>
                </a:solidFill>
                <a:latin typeface="Consolas"/>
              </a:rPr>
              <a:t>  + 0.05 * corroboration_score</a:t>
            </a:r>
          </a:p>
          <a:p>
            <a:r>
              <a:rPr sz="1400">
                <a:solidFill>
                  <a:srgbClr val="E2E8F0"/>
                </a:solidFill>
                <a:latin typeface="Consolas"/>
              </a:rPr>
              <a:t>  + 0.03 * freshness_score</a:t>
            </a:r>
          </a:p>
          <a:p>
            <a:r>
              <a:rPr sz="1400">
                <a:solidFill>
                  <a:srgbClr val="E2E8F0"/>
                </a:solidFill>
                <a:latin typeface="Consolas"/>
              </a:rPr>
              <a:t>  - 0.22 * soft_article_score</a:t>
            </a:r>
          </a:p>
          <a:p>
            <a:r>
              <a:rPr sz="1400">
                <a:solidFill>
                  <a:srgbClr val="E2E8F0"/>
                </a:solidFill>
                <a:latin typeface="Consolas"/>
              </a:rPr>
              <a:t> </a:t>
            </a:r>
          </a:p>
          <a:p>
            <a:r>
              <a:rPr sz="1400">
                <a:solidFill>
                  <a:srgbClr val="E2E8F0"/>
                </a:solidFill>
                <a:latin typeface="Consolas"/>
              </a:rPr>
              <a:t>Clamp to [0, 1]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20840" y="1645920"/>
            <a:ext cx="448056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Calibri"/>
              </a:rPr>
              <a:t>Priority order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0840" y="2084831"/>
            <a:ext cx="4480560" cy="21031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- Evidence and exploitation dominate.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- Quality, impact, and actionability decide usefulness.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- Authority, corroboration, and freshness help tie-break.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- Soft-article score can push weak promotional items out.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4434840"/>
            <a:ext cx="4480560" cy="1005840"/>
          </a:xfrm>
          <a:prstGeom prst="roundRect">
            <a:avLst/>
          </a:prstGeom>
          <a:solidFill>
            <a:srgbClr val="ECFEFF"/>
          </a:solidFill>
          <a:ln w="10160">
            <a:solidFill>
              <a:srgbClr val="A5F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67728" y="4617720"/>
            <a:ext cx="3977639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Freshness and clicks cannot rescue weak evidence.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19088"/>
            <a:ext cx="6400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5943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3100" b="1">
                <a:solidFill>
                  <a:srgbClr val="0F172A"/>
                </a:solidFill>
                <a:latin typeface="Calibri"/>
              </a:rPr>
              <a:t>4. Exploitation and evidence ladders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87552"/>
            <a:ext cx="9144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1106424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PoC is useful, but it is not proof of real-world exploitation.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72768"/>
            <a:ext cx="5257800" cy="438912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480060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Calibri"/>
              </a:rPr>
              <a:t>Exploitation score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267712"/>
            <a:ext cx="713232" cy="310896"/>
          </a:xfrm>
          <a:prstGeom prst="round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3500" rIns="63500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1.00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286000"/>
            <a:ext cx="3886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CISA KEV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706624"/>
            <a:ext cx="713232" cy="310896"/>
          </a:xfrm>
          <a:prstGeom prst="round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3500" rIns="63500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0.90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724912"/>
            <a:ext cx="3886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confirmed in the wild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145536"/>
            <a:ext cx="713232" cy="310896"/>
          </a:xfrm>
          <a:prstGeom prst="round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3500" rIns="63500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0.85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3163824"/>
            <a:ext cx="3886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vendor-confirmed exploitation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584448"/>
            <a:ext cx="713232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3500" rIns="63500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0.70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602736"/>
            <a:ext cx="3886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credible report claims exploitation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023360"/>
            <a:ext cx="713232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3500" rIns="63500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0.45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4041648"/>
            <a:ext cx="3886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public PoC available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462272"/>
            <a:ext cx="713232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3500" rIns="63500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0.20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4480560"/>
            <a:ext cx="3886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theoretical vulnerability only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901184"/>
            <a:ext cx="713232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3500" rIns="63500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0.00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919472"/>
            <a:ext cx="3886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unknown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572768"/>
            <a:ext cx="5257800" cy="438912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783080"/>
            <a:ext cx="480060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Calibri"/>
              </a:rPr>
              <a:t>Evidence score rewards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240280"/>
            <a:ext cx="4709160" cy="32461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- validated CVE / GHSA identity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- KEV, vendor advisory, primary research, credible media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- patch, mitigation, affected versions, IoCs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- victim, threat actor, timeline, campaign detail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- source links and repeat exposure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19088"/>
            <a:ext cx="6400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5943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3100" b="1">
                <a:solidFill>
                  <a:srgbClr val="0F172A"/>
                </a:solidFill>
                <a:latin typeface="Calibri"/>
              </a:rPr>
              <a:t>5. Acceptance rule and anti-marketing filter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87552"/>
            <a:ext cx="9144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1106424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The /security page is a high-precision projection.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5760720" cy="31546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ctr"/>
            <a:r>
              <a:rPr sz="1300">
                <a:solidFill>
                  <a:srgbClr val="E2E8F0"/>
                </a:solidFill>
                <a:latin typeface="Consolas"/>
              </a:rPr>
              <a:t>accept_item =</a:t>
            </a:r>
          </a:p>
          <a:p>
            <a:r>
              <a:rPr sz="1300">
                <a:solidFill>
                  <a:srgbClr val="E2E8F0"/>
                </a:solidFill>
                <a:latin typeface="Consolas"/>
              </a:rPr>
              <a:t>    security_relevance_score &gt;= 0.40</a:t>
            </a:r>
          </a:p>
          <a:p>
            <a:r>
              <a:rPr sz="1300">
                <a:solidFill>
                  <a:srgbClr val="E2E8F0"/>
                </a:solidFill>
                <a:latin typeface="Consolas"/>
              </a:rPr>
              <a:t>    AND (</a:t>
            </a:r>
          </a:p>
          <a:p>
            <a:r>
              <a:rPr sz="1300">
                <a:solidFill>
                  <a:srgbClr val="E2E8F0"/>
                </a:solidFill>
                <a:latin typeface="Consolas"/>
              </a:rPr>
              <a:t>        evidence_score &gt;= 0.35</a:t>
            </a:r>
          </a:p>
          <a:p>
            <a:r>
              <a:rPr sz="1300">
                <a:solidFill>
                  <a:srgbClr val="E2E8F0"/>
                </a:solidFill>
                <a:latin typeface="Consolas"/>
              </a:rPr>
              <a:t>        OR cisa_kev_match = true</a:t>
            </a:r>
          </a:p>
          <a:p>
            <a:r>
              <a:rPr sz="1300">
                <a:solidFill>
                  <a:srgbClr val="E2E8F0"/>
                </a:solidFill>
                <a:latin typeface="Consolas"/>
              </a:rPr>
              <a:t>        OR confirmed_exploitation = true</a:t>
            </a:r>
          </a:p>
          <a:p>
            <a:r>
              <a:rPr sz="1300">
                <a:solidFill>
                  <a:srgbClr val="E2E8F0"/>
                </a:solidFill>
                <a:latin typeface="Consolas"/>
              </a:rPr>
              <a:t>    )</a:t>
            </a:r>
          </a:p>
          <a:p>
            <a:r>
              <a:rPr sz="1300">
                <a:solidFill>
                  <a:srgbClr val="E2E8F0"/>
                </a:solidFill>
                <a:latin typeface="Consolas"/>
              </a:rPr>
              <a:t>    AND soft_article_reject = false</a:t>
            </a:r>
          </a:p>
          <a:p>
            <a:r>
              <a:rPr sz="1300">
                <a:solidFill>
                  <a:srgbClr val="E2E8F0"/>
                </a:solidFill>
                <a:latin typeface="Consolas"/>
              </a:rPr>
              <a:t>    AND final_security_score &gt;= 0.30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1600200"/>
            <a:ext cx="4434840" cy="3154680"/>
          </a:xfrm>
          <a:prstGeom prst="roundRect">
            <a:avLst/>
          </a:prstGeom>
          <a:solidFill>
            <a:srgbClr val="FFFBEB"/>
          </a:solidFill>
          <a:ln w="10160">
            <a:solidFill>
              <a:srgbClr val="FDB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0" y="1810512"/>
            <a:ext cx="393192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700" b="1">
                <a:solidFill>
                  <a:srgbClr val="B91C1C"/>
                </a:solidFill>
                <a:latin typeface="Calibri"/>
              </a:rPr>
              <a:t>Soft-article reject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2240280"/>
            <a:ext cx="3886200" cy="20116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- score &gt;= 0.75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- score &gt;= 0.55 and evidence &lt; 0.45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- no CVE/GHSA/victim/actor/patch/IoC and score &gt;= 0.45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166360"/>
            <a:ext cx="1069848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Calibri"/>
              </a:rPr>
              <a:t>This prevents a broad corpus from leaking marketing posts into the security feed.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19088"/>
            <a:ext cx="6400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5943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3100" b="1">
                <a:solidFill>
                  <a:srgbClr val="0F172A"/>
                </a:solidFill>
                <a:latin typeface="Calibri"/>
              </a:rPr>
              <a:t>6. Group-level ranking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87552"/>
            <a:ext cx="9144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1106424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The page displays story groups, not raw duplicate items.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36192"/>
            <a:ext cx="5394960" cy="24231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ctr"/>
            <a:r>
              <a:rPr sz="1200">
                <a:solidFill>
                  <a:srgbClr val="E2E8F0"/>
                </a:solidFill>
                <a:latin typeface="Consolas"/>
              </a:rPr>
              <a:t>group_final_security_score =</a:t>
            </a:r>
          </a:p>
          <a:p>
            <a:r>
              <a:rPr sz="1200">
                <a:solidFill>
                  <a:srgbClr val="E2E8F0"/>
                </a:solidFill>
                <a:latin typeface="Consolas"/>
              </a:rPr>
              <a:t>    max(item.final_security_score)</a:t>
            </a:r>
          </a:p>
          <a:p>
            <a:r>
              <a:rPr sz="1200">
                <a:solidFill>
                  <a:srgbClr val="E2E8F0"/>
                </a:solidFill>
                <a:latin typeface="Consolas"/>
              </a:rPr>
              <a:t>  + min(0.06, 0.015 * additional_authoritative_sources)</a:t>
            </a:r>
          </a:p>
          <a:p>
            <a:r>
              <a:rPr sz="1200">
                <a:solidFill>
                  <a:srgbClr val="E2E8F0"/>
                </a:solidFill>
                <a:latin typeface="Consolas"/>
              </a:rPr>
              <a:t> </a:t>
            </a:r>
          </a:p>
          <a:p>
            <a:r>
              <a:rPr sz="1200">
                <a:solidFill>
                  <a:srgbClr val="E2E8F0"/>
                </a:solidFill>
                <a:latin typeface="Consolas"/>
              </a:rPr>
              <a:t>group_security_hot_score =</a:t>
            </a:r>
          </a:p>
          <a:p>
            <a:r>
              <a:rPr sz="1200">
                <a:solidFill>
                  <a:srgbClr val="E2E8F0"/>
                </a:solidFill>
                <a:latin typeface="Consolas"/>
              </a:rPr>
              <a:t>    max(item.security_hot_score)</a:t>
            </a:r>
          </a:p>
          <a:p>
            <a:r>
              <a:rPr sz="1200">
                <a:solidFill>
                  <a:srgbClr val="E2E8F0"/>
                </a:solidFill>
                <a:latin typeface="Consolas"/>
              </a:rPr>
              <a:t>  + min(0.05, 0.0125 * additional_recent_sources)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80" y="1536192"/>
            <a:ext cx="5120640" cy="24231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ctr"/>
            <a:r>
              <a:rPr sz="1200">
                <a:solidFill>
                  <a:srgbClr val="E2E8F0"/>
                </a:solidFill>
                <a:latin typeface="Consolas"/>
              </a:rPr>
              <a:t>Top 10 hot sort:</a:t>
            </a:r>
          </a:p>
          <a:p>
            <a:r>
              <a:rPr sz="1200">
                <a:solidFill>
                  <a:srgbClr val="E2E8F0"/>
                </a:solidFill>
                <a:latin typeface="Consolas"/>
              </a:rPr>
              <a:t>  security_hot_score desc</a:t>
            </a:r>
          </a:p>
          <a:p>
            <a:r>
              <a:rPr sz="1200">
                <a:solidFill>
                  <a:srgbClr val="E2E8F0"/>
                </a:solidFill>
                <a:latin typeface="Consolas"/>
              </a:rPr>
              <a:t>  final_security_score desc</a:t>
            </a:r>
          </a:p>
          <a:p>
            <a:r>
              <a:rPr sz="1200">
                <a:solidFill>
                  <a:srgbClr val="E2E8F0"/>
                </a:solidFill>
                <a:latin typeface="Consolas"/>
              </a:rPr>
              <a:t>  exploitation_score desc</a:t>
            </a:r>
          </a:p>
          <a:p>
            <a:r>
              <a:rPr sz="1200">
                <a:solidFill>
                  <a:srgbClr val="E2E8F0"/>
                </a:solidFill>
                <a:latin typeface="Consolas"/>
              </a:rPr>
              <a:t>  evidence_score desc</a:t>
            </a:r>
          </a:p>
          <a:p>
            <a:r>
              <a:rPr sz="1200">
                <a:solidFill>
                  <a:srgbClr val="E2E8F0"/>
                </a:solidFill>
                <a:latin typeface="Consolas"/>
              </a:rPr>
              <a:t>  event_time desc</a:t>
            </a:r>
          </a:p>
          <a:p>
            <a:r>
              <a:rPr sz="1200">
                <a:solidFill>
                  <a:srgbClr val="E2E8F0"/>
                </a:solidFill>
                <a:latin typeface="Consolas"/>
              </a:rPr>
              <a:t> </a:t>
            </a:r>
          </a:p>
          <a:p>
            <a:r>
              <a:rPr sz="1200">
                <a:solidFill>
                  <a:srgbClr val="E2E8F0"/>
                </a:solidFill>
                <a:latin typeface="Consolas"/>
              </a:rPr>
              <a:t>Pager sort:</a:t>
            </a:r>
          </a:p>
          <a:p>
            <a:r>
              <a:rPr sz="1200">
                <a:solidFill>
                  <a:srgbClr val="E2E8F0"/>
                </a:solidFill>
                <a:latin typeface="Consolas"/>
              </a:rPr>
              <a:t>  final_security_score desc</a:t>
            </a:r>
          </a:p>
          <a:p>
            <a:r>
              <a:rPr sz="1200">
                <a:solidFill>
                  <a:srgbClr val="E2E8F0"/>
                </a:solidFill>
                <a:latin typeface="Consolas"/>
              </a:rPr>
              <a:t>  event_time desc</a:t>
            </a:r>
          </a:p>
          <a:p>
            <a:r>
              <a:rPr sz="1200">
                <a:solidFill>
                  <a:srgbClr val="E2E8F0"/>
                </a:solidFill>
                <a:latin typeface="Consolas"/>
              </a:rPr>
              <a:t>  group_key asc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315968"/>
            <a:ext cx="10835640" cy="1143000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507992"/>
            <a:ext cx="10287000" cy="65836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Calibri"/>
              </a:rPr>
              <a:t>Representative card: highest final_security_score; tie-break by source authority, then newest event_time.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19088"/>
            <a:ext cx="6400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5943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3100" b="1">
                <a:solidFill>
                  <a:srgbClr val="0F172A"/>
                </a:solidFill>
                <a:latin typeface="Calibri"/>
              </a:rPr>
              <a:t>7. API, persistence, and current result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87552"/>
            <a:ext cx="9144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1106424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Backend owns scores so pagination and top 10 are stable.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5303520" cy="411480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484632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Calibri"/>
              </a:rPr>
              <a:t>Persisted projection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4800600" cy="2514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- security_item_scores table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- final_security_score and security_hot_score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- badges, why_ranked, source_chain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- event_time, section, group_key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- score_version = security-v1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892040"/>
            <a:ext cx="480060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Backfill: 7,007 processed, 109 accepted, 6,898 rejected, 0 errors.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54480"/>
            <a:ext cx="5303520" cy="411480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83080"/>
            <a:ext cx="484632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Calibri"/>
              </a:rPr>
              <a:t>Read contracts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2240280"/>
            <a:ext cx="4800600" cy="19659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ctr"/>
            <a:r>
              <a:rPr sz="1200">
                <a:solidFill>
                  <a:srgbClr val="E2E8F0"/>
                </a:solidFill>
                <a:latin typeface="Consolas"/>
              </a:rPr>
              <a:t>GET /api/security/hot?limit=10</a:t>
            </a:r>
          </a:p>
          <a:p>
            <a:r>
              <a:rPr sz="1200">
                <a:solidFill>
                  <a:srgbClr val="E2E8F0"/>
                </a:solidFill>
                <a:latin typeface="Consolas"/>
              </a:rPr>
              <a:t> </a:t>
            </a:r>
          </a:p>
          <a:p>
            <a:r>
              <a:rPr sz="1200">
                <a:solidFill>
                  <a:srgbClr val="E2E8F0"/>
                </a:solidFill>
                <a:latin typeface="Consolas"/>
              </a:rPr>
              <a:t>GET /api/security/items</a:t>
            </a:r>
          </a:p>
          <a:p>
            <a:r>
              <a:rPr sz="1200">
                <a:solidFill>
                  <a:srgbClr val="E2E8F0"/>
                </a:solidFill>
                <a:latin typeface="Consolas"/>
              </a:rPr>
              <a:t>  ?limit=25</a:t>
            </a:r>
          </a:p>
          <a:p>
            <a:r>
              <a:rPr sz="1200">
                <a:solidFill>
                  <a:srgbClr val="E2E8F0"/>
                </a:solidFill>
                <a:latin typeface="Consolas"/>
              </a:rPr>
              <a:t>  &amp;offset=0</a:t>
            </a:r>
          </a:p>
          <a:p>
            <a:r>
              <a:rPr sz="1200">
                <a:solidFill>
                  <a:srgbClr val="E2E8F0"/>
                </a:solidFill>
                <a:latin typeface="Consolas"/>
              </a:rPr>
              <a:t>  &amp;section=all</a:t>
            </a:r>
          </a:p>
          <a:p>
            <a:r>
              <a:rPr sz="1200">
                <a:solidFill>
                  <a:srgbClr val="E2E8F0"/>
                </a:solidFill>
                <a:latin typeface="Consolas"/>
              </a:rPr>
              <a:t>  &amp;sort=score_desc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4480560"/>
            <a:ext cx="4800600" cy="5029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UI: two rows of five hot cards on desktop, pager after filtering and grouping.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19088"/>
            <a:ext cx="6400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